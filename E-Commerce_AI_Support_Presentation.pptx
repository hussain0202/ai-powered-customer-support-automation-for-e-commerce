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E-Commerce AI Support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2286000" cy="5029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F5F5F5"/>
                </a:solidFill>
              </a:rPr>
              <a:t>Automated customer support using LLM, RAG, and real e-commerce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999999"/>
                </a:solidFill>
              </a:rPr>
              <a:t>Built with  </a:t>
            </a:r>
            <a:r>
              <a:rPr lang="en-US" sz="1300" b="0" i="1" dirty="0">
                <a:solidFill>
                  <a:srgbClr val="999999"/>
                </a:solidFill>
              </a:rPr>
              <a:t>Llama</a:t>
            </a:r>
            <a:r>
              <a:rPr sz="1300" b="0" i="1" dirty="0">
                <a:solidFill>
                  <a:srgbClr val="999999"/>
                </a:solidFill>
              </a:rPr>
              <a:t>| </a:t>
            </a:r>
            <a:r>
              <a:rPr sz="1300" b="0" i="1" dirty="0" err="1">
                <a:solidFill>
                  <a:srgbClr val="999999"/>
                </a:solidFill>
              </a:rPr>
              <a:t>ChromaDB</a:t>
            </a:r>
            <a:r>
              <a:rPr sz="1300" b="0" i="1" dirty="0">
                <a:solidFill>
                  <a:srgbClr val="999999"/>
                </a:solidFill>
              </a:rPr>
              <a:t>  |  </a:t>
            </a:r>
            <a:r>
              <a:rPr sz="1300" b="0" i="1" dirty="0" err="1">
                <a:solidFill>
                  <a:srgbClr val="999999"/>
                </a:solidFill>
              </a:rPr>
              <a:t>Streamlit</a:t>
            </a:r>
            <a:r>
              <a:rPr sz="1300" b="0" i="1" dirty="0">
                <a:solidFill>
                  <a:srgbClr val="999999"/>
                </a:solidFill>
              </a:rPr>
              <a:t>  | 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99999"/>
                </a:solidFill>
              </a:rPr>
              <a:t>Datasets:  Pakistan E-Commerce  |  </a:t>
            </a:r>
            <a:r>
              <a:rPr sz="1200" b="0" i="0" dirty="0" err="1">
                <a:solidFill>
                  <a:srgbClr val="999999"/>
                </a:solidFill>
              </a:rPr>
              <a:t>Daraz</a:t>
            </a:r>
            <a:r>
              <a:rPr sz="1200" b="0" i="0" dirty="0">
                <a:solidFill>
                  <a:srgbClr val="999999"/>
                </a:solidFill>
              </a:rPr>
              <a:t> Products  |  </a:t>
            </a:r>
            <a:r>
              <a:rPr sz="1200" b="0" i="0" dirty="0" err="1">
                <a:solidFill>
                  <a:srgbClr val="999999"/>
                </a:solidFill>
              </a:rPr>
              <a:t>Olist</a:t>
            </a:r>
            <a:r>
              <a:rPr sz="1200" b="0" i="0" dirty="0">
                <a:solidFill>
                  <a:srgbClr val="999999"/>
                </a:solidFill>
              </a:rPr>
              <a:t> Brazil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99999"/>
                </a:solidFill>
              </a:rPr>
              <a:t>Muhammad </a:t>
            </a:r>
            <a:r>
              <a:rPr lang="en-US" sz="1200" b="0" i="0" dirty="0">
                <a:solidFill>
                  <a:srgbClr val="999999"/>
                </a:solidFill>
              </a:rPr>
              <a:t>Hussain</a:t>
            </a:r>
            <a:r>
              <a:rPr sz="1200" b="0" i="0" dirty="0">
                <a:solidFill>
                  <a:srgbClr val="999999"/>
                </a:solidFill>
              </a:rPr>
              <a:t>  |  202</a:t>
            </a:r>
            <a:r>
              <a:rPr lang="en-US" sz="1200" b="0" i="0" dirty="0">
                <a:solidFill>
                  <a:srgbClr val="999999"/>
                </a:solidFill>
              </a:rPr>
              <a:t>6</a:t>
            </a:r>
            <a:endParaRPr sz="1200" b="0" i="0" dirty="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200" b="1">
                <a:solidFill>
                  <a:srgbClr val="E94F37"/>
                </a:solidFill>
              </a:rPr>
              <a:t>VOLUME   </a:t>
            </a:r>
            <a:r>
              <a:rPr sz="1300">
                <a:solidFill>
                  <a:srgbClr val="F5F5F5"/>
                </a:solidFill>
              </a:rPr>
              <a:t>E-commerce businesses receive thousands of customer queries every day — orders, refunds, product questions, complaints.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E94F37"/>
                </a:solidFill>
              </a:rPr>
              <a:t>COST   </a:t>
            </a:r>
            <a:r>
              <a:rPr sz="1300">
                <a:solidFill>
                  <a:srgbClr val="F5F5F5"/>
                </a:solidFill>
              </a:rPr>
              <a:t>Hiring and maintaining a large human support team is expensive and does not scale with traffic spikes.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E94F37"/>
                </a:solidFill>
              </a:rPr>
              <a:t>CONSISTENCY   </a:t>
            </a:r>
            <a:r>
              <a:rPr sz="1300">
                <a:solidFill>
                  <a:srgbClr val="F5F5F5"/>
                </a:solidFill>
              </a:rPr>
              <a:t>Human agents give inconsistent answers and have limited availability outside business hours.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E94F37"/>
                </a:solidFill>
              </a:rPr>
              <a:t>DATA SILOS   </a:t>
            </a:r>
            <a:r>
              <a:rPr sz="1300">
                <a:solidFill>
                  <a:srgbClr val="F5F5F5"/>
                </a:solidFill>
              </a:rPr>
              <a:t>Order data, product inventory, and policy documents exist in separate systems, making it slow to give accurate answers.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E94F37"/>
                </a:solidFill>
              </a:rPr>
              <a:t>MISSED OPPORTUNITIES   </a:t>
            </a:r>
            <a:r>
              <a:rPr sz="1300">
                <a:solidFill>
                  <a:srgbClr val="F5F5F5"/>
                </a:solidFill>
              </a:rPr>
              <a:t>Without analysing support interactions, businesses cannot identify recurring issues or high-risk product categories.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051560"/>
            <a:ext cx="4114800" cy="530352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1887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Industry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600200"/>
            <a:ext cx="3749039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</a:rPr>
              <a:t>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</a:rPr>
              <a:t>of customers expect
24/7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770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816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</a:rPr>
              <a:t>of queries are
repetitive and routine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8496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89534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</a:rPr>
              <a:t>faster resolution with
automated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9286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&lt; 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9743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</a:rPr>
              <a:t>average AI response
time vs minutes for humans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260604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065" y="1180242"/>
            <a:ext cx="2468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Conversational AI</a:t>
            </a:r>
            <a:r>
              <a:rPr lang="en-US" sz="1300" b="1" i="0" dirty="0">
                <a:solidFill>
                  <a:srgbClr val="FFFFFF"/>
                </a:solidFill>
              </a:rPr>
              <a:t> 
</a:t>
            </a:r>
            <a:r>
              <a:rPr sz="1300" b="1" i="0" dirty="0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600200"/>
            <a:ext cx="246888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272" y="1672685"/>
            <a:ext cx="2468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28 supported intents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Multi-turn slot filling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Context memory across turns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Fuzzy product name matching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43000"/>
            <a:ext cx="2743200" cy="260604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79" y="12527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79" y="1600200"/>
            <a:ext cx="246888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79" y="1645920"/>
            <a:ext cx="2468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 err="1">
                <a:solidFill>
                  <a:srgbClr val="F5F5F5"/>
                </a:solidFill>
              </a:rPr>
              <a:t>ChromaDB</a:t>
            </a:r>
            <a:r>
              <a:rPr sz="1100" dirty="0">
                <a:solidFill>
                  <a:srgbClr val="F5F5F5"/>
                </a:solidFill>
              </a:rPr>
              <a:t> vector store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6 policy documents indexed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Hybrid: SQL facts + policy</a:t>
            </a:r>
          </a:p>
          <a:p>
            <a:pPr>
              <a:spcBef>
                <a:spcPts val="300"/>
              </a:spcBef>
            </a:pPr>
            <a:r>
              <a:rPr sz="1100" dirty="0" err="1">
                <a:solidFill>
                  <a:srgbClr val="F5F5F5"/>
                </a:solidFill>
              </a:rPr>
              <a:t>Groq</a:t>
            </a:r>
            <a:r>
              <a:rPr sz="1100" dirty="0">
                <a:solidFill>
                  <a:srgbClr val="F5F5F5"/>
                </a:solidFill>
              </a:rPr>
              <a:t> Llama 3.3-70B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743200" cy="260604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2527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 Database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600200"/>
            <a:ext cx="246888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2468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100k+ Pakistani orders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Daraz product catalog (PKR)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Real cancellation/refund writes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Support ticket logging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143000"/>
            <a:ext cx="2743200" cy="260604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2527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600200"/>
            <a:ext cx="246888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645920"/>
            <a:ext cx="2468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Executive analytics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Support insights &amp; KPIs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User account history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5F5F5"/>
                </a:solidFill>
              </a:rPr>
              <a:t>CSV export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77639"/>
            <a:ext cx="2743200" cy="260604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4087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4434840"/>
            <a:ext cx="246888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4480559"/>
            <a:ext cx="24688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Register / login</a:t>
            </a:r>
            <a:endParaRPr lang="en-US" sz="1100" dirty="0">
              <a:solidFill>
                <a:srgbClr val="F5F5F5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rgbClr val="F5F5F5"/>
                </a:solidFill>
              </a:rPr>
              <a:t>Password hashing</a:t>
            </a: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rgbClr val="F5F5F5"/>
                </a:solidFill>
              </a:rPr>
              <a:t>Cookie Sessions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977639"/>
            <a:ext cx="2743200" cy="260604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79" y="4087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Sentiment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79" y="4434840"/>
            <a:ext cx="246888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79" y="4480559"/>
            <a:ext cx="2468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 err="1">
                <a:solidFill>
                  <a:srgbClr val="F5F5F5"/>
                </a:solidFill>
              </a:rPr>
              <a:t>TextBlob</a:t>
            </a:r>
            <a:r>
              <a:rPr sz="1100" dirty="0">
                <a:solidFill>
                  <a:srgbClr val="F5F5F5"/>
                </a:solidFill>
              </a:rPr>
              <a:t> polarity scoring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Positive / Neutral / Negative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Badge shown per message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Informs escalation logic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77639"/>
            <a:ext cx="2743200" cy="260604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4087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Escalation &amp; Tickets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434840"/>
            <a:ext cx="246888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480559"/>
            <a:ext cx="2468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Human escalation flow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Support ticket creation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6 issue type categories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F5F5F5"/>
                </a:solidFill>
              </a:rPr>
              <a:t>Linked to user account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999999"/>
                </a:solidFill>
              </a:rPr>
              <a:t>Two dataset sources serving different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00" cy="5212080"/>
          </a:xfrm>
          <a:prstGeom prst="rect">
            <a:avLst/>
          </a:prstGeom>
          <a:solidFill>
            <a:srgbClr val="1A1A2E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AI ASSISTANT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694944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7132320" cy="1298448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8562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Pakistan E-Commerce
(ranasagheerkhan)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Orders, order status, payment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9280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94F37"/>
                </a:solidFill>
              </a:rPr>
              <a:t>orders.csv
payments.csv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72968"/>
            <a:ext cx="7132320" cy="1298448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Daraz Top Sales 2024
(muhammadmurtazasani)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101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Product catalog — PKR prices, ratings,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82696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94F37"/>
                </a:solidFill>
              </a:rPr>
              <a:t>products.csv
inventory.csv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62856"/>
            <a:ext cx="7132320" cy="1298448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636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Daraz 11.11 Products
(neloybarman018)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70001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Discounted products and sale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67258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94F37"/>
                </a:solidFill>
              </a:rPr>
              <a:t>discounts.csv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143000"/>
            <a:ext cx="3931920" cy="5212080"/>
          </a:xfrm>
          <a:prstGeom prst="rect">
            <a:avLst/>
          </a:prstGeom>
          <a:solidFill>
            <a:srgbClr val="1A1A2E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99"/>
                </a:solidFill>
              </a:rPr>
              <a:t>ANALYTICS DASHBOARD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664208"/>
            <a:ext cx="3566160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1783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Olist Brazilian
E-Commerce 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68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100,000+ real orders
2016 - 2018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017520"/>
            <a:ext cx="3566160" cy="27432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3154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</a:rPr>
              <a:t>olist_orders_dataset.csv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4564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</a:rPr>
              <a:t>olist_order_reviews_dataset.csv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758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</a:rPr>
              <a:t>olist_order_items_dataset.csv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599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</a:rPr>
              <a:t>olist_products_dataset.csv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3616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</a:rPr>
              <a:t>product_category_name_translation.csv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983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Used for: delay rates, monthly
trends, category review scores,
operational KPIs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194560" cy="594360"/>
          </a:xfrm>
          <a:prstGeom prst="rect">
            <a:avLst/>
          </a:prstGeom>
          <a:solidFill>
            <a:srgbClr val="25254A"/>
          </a:solidFill>
          <a:ln w="1905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User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14400"/>
            <a:ext cx="4114800" cy="2194560"/>
          </a:xfrm>
          <a:prstGeom prst="rect">
            <a:avLst/>
          </a:prstGeom>
          <a:solidFill>
            <a:srgbClr val="25254A"/>
          </a:solidFill>
          <a:ln w="1905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98755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session_manager.py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417320"/>
            <a:ext cx="3840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1. Reference resolution &amp; context injection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2. Semantic intent classification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3. Multi-turn slot filling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4. Route to retrieval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3566160" cy="274320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sql_retrieval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4160520"/>
            <a:ext cx="329184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When: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526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Product search, pricing,
order tracking, discounts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Result: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5440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LLM — formatted
SQL result returned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566160" cy="274320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53128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semantic_search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3128" y="4160520"/>
            <a:ext cx="329184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3128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When: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526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General FAQ, shipping,
account, tech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Result: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5440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ChromaDB chunks
-&gt; Groq LLM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3657600"/>
            <a:ext cx="3566160" cy="274320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hybrid_retrieval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4160520"/>
            <a:ext cx="329184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When: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526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Cancel order, refunds,
payments, payment issues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</a:rPr>
              <a:t>Result: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440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SQL facts + policy
-&gt; Groq 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30906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94F37"/>
                </a:solidFill>
              </a:rPr>
              <a:t>|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E94F37"/>
                </a:solidFill>
              </a:rP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30906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94F37"/>
                </a:solidFill>
              </a:rPr>
              <a:t>|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94F37"/>
                </a:solidFill>
              </a:rPr>
              <a:t>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30906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94F37"/>
                </a:solidFill>
              </a:rPr>
              <a:t>|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94F37"/>
                </a:solidFill>
              </a:rPr>
              <a:t>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864F3C-896B-39D9-4D05-D8909F0CC1A5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902AA-CE87-DAEE-A063-1C28220B895F}"/>
              </a:ext>
            </a:extLst>
          </p:cNvPr>
          <p:cNvSpPr txBox="1"/>
          <p:nvPr/>
        </p:nvSpPr>
        <p:spPr>
          <a:xfrm>
            <a:off x="320040" y="20116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AD4CA-C0BC-96F3-475F-04FA3C54999A}"/>
              </a:ext>
            </a:extLst>
          </p:cNvPr>
          <p:cNvSpPr/>
          <p:nvPr/>
        </p:nvSpPr>
        <p:spPr>
          <a:xfrm>
            <a:off x="320040" y="1097280"/>
            <a:ext cx="11521440" cy="987552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FA5A1-8E1A-F20B-9F28-252BA590CD9E}"/>
              </a:ext>
            </a:extLst>
          </p:cNvPr>
          <p:cNvSpPr txBox="1"/>
          <p:nvPr/>
        </p:nvSpPr>
        <p:spPr>
          <a:xfrm>
            <a:off x="50292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94F37"/>
                </a:solidFill>
              </a:rPr>
              <a:t>1. Customer sends a message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2265A-3567-C1CC-F794-0724EB338BD7}"/>
              </a:ext>
            </a:extLst>
          </p:cNvPr>
          <p:cNvSpPr txBox="1"/>
          <p:nvPr/>
        </p:nvSpPr>
        <p:spPr>
          <a:xfrm>
            <a:off x="4160520" y="1225295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The system reads the message and identifies what the customer is asking about.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9784A-EEB1-F78E-383D-00C073936142}"/>
              </a:ext>
            </a:extLst>
          </p:cNvPr>
          <p:cNvSpPr/>
          <p:nvPr/>
        </p:nvSpPr>
        <p:spPr>
          <a:xfrm>
            <a:off x="320040" y="2212848"/>
            <a:ext cx="11521440" cy="987552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278AD1-21B3-F0C3-D67B-20DB4C637ABC}"/>
              </a:ext>
            </a:extLst>
          </p:cNvPr>
          <p:cNvSpPr txBox="1"/>
          <p:nvPr/>
        </p:nvSpPr>
        <p:spPr>
          <a:xfrm>
            <a:off x="502920" y="2304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2. Intent is classified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09EE9-15AC-3C20-0313-6592EA0EA355}"/>
              </a:ext>
            </a:extLst>
          </p:cNvPr>
          <p:cNvSpPr txBox="1"/>
          <p:nvPr/>
        </p:nvSpPr>
        <p:spPr>
          <a:xfrm>
            <a:off x="4160520" y="2340864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A sentence embedding model compares the message against known query types to determine the intent.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79BD1-6B62-D465-4A73-0A22EB7738F4}"/>
              </a:ext>
            </a:extLst>
          </p:cNvPr>
          <p:cNvSpPr/>
          <p:nvPr/>
        </p:nvSpPr>
        <p:spPr>
          <a:xfrm>
            <a:off x="320040" y="3328415"/>
            <a:ext cx="11521440" cy="987552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24F4F-4CE0-64C5-3264-4F3B2766E8D8}"/>
              </a:ext>
            </a:extLst>
          </p:cNvPr>
          <p:cNvSpPr txBox="1"/>
          <p:nvPr/>
        </p:nvSpPr>
        <p:spPr>
          <a:xfrm>
            <a:off x="502920" y="34198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94F37"/>
                </a:solidFill>
              </a:rPr>
              <a:t>3. Information is collected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247E6C-8CE8-9B47-D0B7-66ECE48C268A}"/>
              </a:ext>
            </a:extLst>
          </p:cNvPr>
          <p:cNvSpPr txBox="1"/>
          <p:nvPr/>
        </p:nvSpPr>
        <p:spPr>
          <a:xfrm>
            <a:off x="4160520" y="3456432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If the query needs more details (e.g. an order ID), the bot asks follow-up questions one at a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EC8AC9-4649-0A61-3E57-52196DF55962}"/>
              </a:ext>
            </a:extLst>
          </p:cNvPr>
          <p:cNvSpPr/>
          <p:nvPr/>
        </p:nvSpPr>
        <p:spPr>
          <a:xfrm>
            <a:off x="320040" y="4443983"/>
            <a:ext cx="11521440" cy="987552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AEDA13-6652-8986-3A66-F5E1B5349D78}"/>
              </a:ext>
            </a:extLst>
          </p:cNvPr>
          <p:cNvSpPr txBox="1"/>
          <p:nvPr/>
        </p:nvSpPr>
        <p:spPr>
          <a:xfrm>
            <a:off x="502920" y="4535423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4. Data is retrieved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DFE392-D135-CBE9-7D66-9970A37EE906}"/>
              </a:ext>
            </a:extLst>
          </p:cNvPr>
          <p:cNvSpPr txBox="1"/>
          <p:nvPr/>
        </p:nvSpPr>
        <p:spPr>
          <a:xfrm>
            <a:off x="4160520" y="4571999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The system queries the database for order or product facts, and searches policy documents for relevant guidance.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53B5C-CEAD-E3F7-2494-C430A86DE629}"/>
              </a:ext>
            </a:extLst>
          </p:cNvPr>
          <p:cNvSpPr/>
          <p:nvPr/>
        </p:nvSpPr>
        <p:spPr>
          <a:xfrm>
            <a:off x="320040" y="5559551"/>
            <a:ext cx="11521440" cy="987552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2D7069-94E1-E0E7-B3DB-EEB748003990}"/>
              </a:ext>
            </a:extLst>
          </p:cNvPr>
          <p:cNvSpPr txBox="1"/>
          <p:nvPr/>
        </p:nvSpPr>
        <p:spPr>
          <a:xfrm>
            <a:off x="502920" y="5650991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5. Response is generated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D60CD9-8AAD-4AB5-971E-8ACEE2393D1D}"/>
              </a:ext>
            </a:extLst>
          </p:cNvPr>
          <p:cNvSpPr txBox="1"/>
          <p:nvPr/>
        </p:nvSpPr>
        <p:spPr>
          <a:xfrm>
            <a:off x="4160520" y="5687567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</a:rPr>
              <a:t>The retrieved information is sent to the Groq LLM, which produces a clear, natural language reply.</a:t>
            </a:r>
          </a:p>
        </p:txBody>
      </p:sp>
    </p:spTree>
    <p:extLst>
      <p:ext uri="{BB962C8B-B14F-4D97-AF65-F5344CB8AC3E}">
        <p14:creationId xmlns:p14="http://schemas.microsoft.com/office/powerpoint/2010/main" val="2580212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AI Pipeline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1143000"/>
          </a:xfrm>
          <a:prstGeom prst="rect">
            <a:avLst/>
          </a:prstGeom>
          <a:solidFill>
            <a:srgbClr val="25254A"/>
          </a:solidFill>
          <a:ln w="9525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1. Intent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Every message is embedded using all-MiniLM-L6-v2 (sentence-transformers). Cosine similarity is computed against pre-embedded examples from intent_examples.json. The closest match determines the intent — no keyword rules, no regex.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95728"/>
            <a:ext cx="11612880" cy="1143000"/>
          </a:xfrm>
          <a:prstGeom prst="rect">
            <a:avLst/>
          </a:prstGeom>
          <a:solidFill>
            <a:srgbClr val="25254A"/>
          </a:solidFill>
          <a:ln w="9525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2. Slot Filling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8716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Each intent has defined required slots (e.g. order tracking needs an order_id). The system asks follow-up questions one at a time until all slots are filled. It detects mid-conversation topic switches and handles them gracefully.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94176"/>
            <a:ext cx="11612880" cy="1143000"/>
          </a:xfrm>
          <a:prstGeom prst="rect">
            <a:avLst/>
          </a:prstGeom>
          <a:solidFill>
            <a:srgbClr val="25254A"/>
          </a:solidFill>
          <a:ln w="9525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78561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3.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8561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sql_retrieval queries SQLite directly. semantic_search runs a vector search against ChromaDB and retrieves the top-3 relevant knowledge base chunks. hybrid_retrieval does both — fetches SQL facts then retrieves matching policy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92624"/>
            <a:ext cx="11612880" cy="1143000"/>
          </a:xfrm>
          <a:prstGeom prst="rect">
            <a:avLst/>
          </a:prstGeom>
          <a:solidFill>
            <a:srgbClr val="25254A"/>
          </a:solidFill>
          <a:ln w="9525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0840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4. LLM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084064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For semantic and hybrid intents, the retrieved context is sent to Groq (llama-3.3-70b-versatile) as a RAG prompt. The LLM produces a natural, grounded response. A sidebar toggle controls whether a static fallback is shown if the LLM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834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52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1A2E"/>
                </a:solidFill>
              </a:rPr>
              <a:t>Multi-turn Dialogue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600200"/>
            <a:ext cx="256032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645920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Collects required info step by step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Remembers context across turns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Detects and handles topic switches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3" y="1143000"/>
            <a:ext cx="2834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2423" y="1252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Fuzzy Product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2423" y="1600200"/>
            <a:ext cx="256032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2423" y="1645920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Two-pass: LIKE then RapidFuzz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Disambiguation list on multiple matches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Partial name matching supported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143000"/>
            <a:ext cx="2834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252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Real DB Writes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3368" y="1600200"/>
            <a:ext cx="256032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645920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Cancellations update order_status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Refunds update order_status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Tickets logged to support_tickets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143000"/>
            <a:ext cx="2834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54312" y="1252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Support Tickets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54312" y="1600200"/>
            <a:ext cx="256032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54312" y="1645920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- 6 issue type categories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Linked to logged-in user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Auto-created for complaints &amp; escalations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03320"/>
            <a:ext cx="2834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1A2E"/>
                </a:solidFill>
              </a:rPr>
              <a:t>User Authentication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4160520"/>
            <a:ext cx="256032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4206240"/>
            <a:ext cx="25603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444444"/>
                </a:solidFill>
              </a:rPr>
              <a:t>- Register and login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444444"/>
                </a:solidFill>
              </a:rPr>
              <a:t>- password hashing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444444"/>
                </a:solidFill>
              </a:rPr>
              <a:t>- 30-day persistent browser sessions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5263" y="3703320"/>
            <a:ext cx="2834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2423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Pagination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92423" y="4160520"/>
            <a:ext cx="256032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92423" y="4206240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"Show me more" loads next page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Tracks page per intent+category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- No re-asking of filters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7" y="3703320"/>
            <a:ext cx="2834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Analytics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4160520"/>
            <a:ext cx="2560320" cy="228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4206240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444444"/>
                </a:solidFill>
              </a:rPr>
              <a:t>- Monthly order volume trend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444444"/>
                </a:solidFill>
              </a:rPr>
              <a:t>- Delivery delay rates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444444"/>
                </a:solidFill>
              </a:rPr>
              <a:t>- Problematic category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56032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051560"/>
            <a:ext cx="36576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078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051560"/>
            <a:ext cx="539496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0789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35608"/>
            <a:ext cx="256032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49961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435608"/>
            <a:ext cx="365760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1499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Streamlit 1.57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435608"/>
            <a:ext cx="539496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4996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Web UI, tabs, sidebar, session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11095"/>
            <a:ext cx="25603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1975103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LLM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911095"/>
            <a:ext cx="3657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19751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Groq API - llama-3.3-70b-versatile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11095"/>
            <a:ext cx="53949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97510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Cloud LLM, fast inference, free tier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86584"/>
            <a:ext cx="256032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45059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Vector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2386584"/>
            <a:ext cx="365760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718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ChromaDB 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86584"/>
            <a:ext cx="539496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2450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Persistent local embeddings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62072"/>
            <a:ext cx="25603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926079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862072"/>
            <a:ext cx="3657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71800" y="29260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sentence-transformers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862072"/>
            <a:ext cx="53949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29260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all-MiniLM-L6-v2 for intent and RAG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37560"/>
            <a:ext cx="256032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40156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3337560"/>
            <a:ext cx="365760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71800" y="3401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SQLite (stdlib)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337560"/>
            <a:ext cx="539496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3401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Orders, products, users, tickets, sessions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13048"/>
            <a:ext cx="25603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387705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Fuzzy Match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3813048"/>
            <a:ext cx="3657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71800" y="38770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RapidFuzz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813048"/>
            <a:ext cx="53949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0" y="38770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Token-set-ratio product name matching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88536"/>
            <a:ext cx="256032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435254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4288536"/>
            <a:ext cx="365760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71800" y="43525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TextBlob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288536"/>
            <a:ext cx="539496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43525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Polarity scoring on user messages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764024"/>
            <a:ext cx="25603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482803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Processing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4764024"/>
            <a:ext cx="3657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71800" y="4828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Pandas 3.0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4764024"/>
            <a:ext cx="53949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75120" y="4828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Dataset loading, cleaning, dashboard calcs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239512"/>
            <a:ext cx="256032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530352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Password Hashing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0360" y="5239512"/>
            <a:ext cx="365760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71800" y="5303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hashlib.pbkdf2_hmac (stdlib)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5239512"/>
            <a:ext cx="5394960" cy="457200"/>
          </a:xfrm>
          <a:prstGeom prst="rect">
            <a:avLst/>
          </a:prstGeom>
          <a:solidFill>
            <a:srgbClr val="25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75120" y="5303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100k iterations, random salt per user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715000"/>
            <a:ext cx="25603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577900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Session Cookies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360" y="5715000"/>
            <a:ext cx="3657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971800" y="5779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extra-streamlit-components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5715000"/>
            <a:ext cx="53949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75120" y="57790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CookieManager for persistent 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Application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0972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</a:rPr>
              <a:t>Four tabs — each serving a distinct user or admin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88920" cy="539496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43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Tab 1
AI 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847088"/>
            <a:ext cx="251460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92024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Live conversational chat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Sentiment + intent badge per message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Retrieval strategy badge (SQL / RAG / Hybrid)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Expandable per-message debug panel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Slot filling with follow-up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3" y="1051560"/>
            <a:ext cx="2788920" cy="539496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2423" y="1143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Tab 2
Executive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2423" y="1847088"/>
            <a:ext cx="251460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2423" y="192024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Order status distribution bar chart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Monthly order volume trend line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Delayed vs on-time delivery pie chart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Top 10 product categories by units sold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1051560"/>
            <a:ext cx="2788920" cy="539496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1143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Tab 3
Support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1847088"/>
            <a:ext cx="251460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192024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Average review score KPI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Delivery delay rate KPI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Most problematic product categories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Recent chat logs with escalation flags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Support ticket overview by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1051560"/>
            <a:ext cx="2788920" cy="539496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2" y="1143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Tab 4
My Account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54312" y="1847088"/>
            <a:ext cx="251460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54312" y="192024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Personal profile and join date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Chat count and ticket count stats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Full personal chat history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5F5F5"/>
                </a:solidFill>
              </a:rPr>
              <a:t>- Full personal support ticket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828800" cy="5029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400">
                <a:solidFill>
                  <a:srgbClr val="F5F5F5"/>
                </a:solidFill>
              </a:rPr>
              <a:t>A full-stack AI support platform built from real e-commerce data — not mock responses.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5F5F5"/>
                </a:solidFill>
              </a:rPr>
              <a:t>Three-layer retrieval (SQL, semantic, hybrid) ensures the right tool is used for each query type.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5F5F5"/>
                </a:solidFill>
              </a:rPr>
              <a:t>Multi-turn slot filling, context memory, and topic switching make conversations feel natural.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5F5F5"/>
                </a:solidFill>
              </a:rPr>
              <a:t>Authentication with persistent sessions and per-user history makes the system production-ready.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5F5F5"/>
                </a:solidFill>
              </a:rPr>
              <a:t>The analytics dashboard provides genuine operational insight using the Olist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solidFill>
            <a:srgbClr val="25254A"/>
          </a:solidFill>
          <a:ln w="1270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14813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What could come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938528"/>
            <a:ext cx="301752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200">
                <a:solidFill>
                  <a:srgbClr val="F5F5F5"/>
                </a:solidFill>
              </a:rPr>
              <a:t>- Fine-tune sentence transformer on collected chat logs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F5F5F5"/>
                </a:solidFill>
              </a:rPr>
              <a:t>- Add Urdu/Roman Urdu language support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F5F5F5"/>
                </a:solidFill>
              </a:rPr>
              <a:t>- Order placement and cart management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F5F5F5"/>
                </a:solidFill>
              </a:rPr>
              <a:t>- Email / SMS notification integration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F5F5F5"/>
                </a:solidFill>
              </a:rPr>
              <a:t>- Admin panel for ticket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99999"/>
                </a:solidFill>
              </a:rPr>
              <a:t>Muhammad </a:t>
            </a:r>
            <a:r>
              <a:rPr lang="en-US" sz="1100" b="0" i="0" dirty="0">
                <a:solidFill>
                  <a:srgbClr val="999999"/>
                </a:solidFill>
              </a:rPr>
              <a:t>Hussain</a:t>
            </a:r>
            <a:r>
              <a:rPr sz="1100" b="0" i="0" dirty="0">
                <a:solidFill>
                  <a:srgbClr val="999999"/>
                </a:solidFill>
              </a:rPr>
              <a:t>  |  202</a:t>
            </a:r>
            <a:r>
              <a:rPr lang="en-US" sz="1100" b="0" i="0" dirty="0">
                <a:solidFill>
                  <a:srgbClr val="999999"/>
                </a:solidFill>
              </a:rPr>
              <a:t>6</a:t>
            </a:r>
            <a:endParaRPr sz="1100" b="0" i="0" dirty="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1357</Words>
  <Application>Microsoft Office PowerPoint</Application>
  <PresentationFormat>Custom</PresentationFormat>
  <Paragraphs>225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5</cp:revision>
  <dcterms:created xsi:type="dcterms:W3CDTF">2013-01-27T09:14:16Z</dcterms:created>
  <dcterms:modified xsi:type="dcterms:W3CDTF">2026-05-14T17:46:52Z</dcterms:modified>
  <cp:category/>
</cp:coreProperties>
</file>